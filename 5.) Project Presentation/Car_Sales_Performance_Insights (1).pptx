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Revenue trend by model year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50</c:v>
                </c:pt>
                <c:pt idx="1">
                  <c:v>110</c:v>
                </c:pt>
                <c:pt idx="2">
                  <c:v>220</c:v>
                </c:pt>
                <c:pt idx="3">
                  <c:v>360</c:v>
                </c:pt>
                <c:pt idx="4">
                  <c:v>560</c:v>
                </c:pt>
                <c:pt idx="5">
                  <c:v>660</c:v>
                </c:pt>
                <c:pt idx="6">
                  <c:v>520</c:v>
                </c:pt>
                <c:pt idx="7">
                  <c:v>700</c:v>
                </c:pt>
                <c:pt idx="8">
                  <c:v>880</c:v>
                </c:pt>
                <c:pt idx="9">
                  <c:v>1900</c:v>
                </c:pt>
                <c:pt idx="10">
                  <c:v>1700</c:v>
                </c:pt>
                <c:pt idx="11">
                  <c:v>290</c:v>
                </c:pt>
                <c:pt idx="12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99-4AFE-853C-6D1EC06A5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Revenue share by body type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rgbClr val="F2B34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Sedan</c:v>
                </c:pt>
                <c:pt idx="1">
                  <c:v>SUV</c:v>
                </c:pt>
                <c:pt idx="2">
                  <c:v>Hatchback</c:v>
                </c:pt>
                <c:pt idx="3">
                  <c:v>Convertible</c:v>
                </c:pt>
                <c:pt idx="4">
                  <c:v>Coupe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83.6</c:v>
                </c:pt>
                <c:pt idx="1">
                  <c:v>6.6</c:v>
                </c:pt>
                <c:pt idx="2">
                  <c:v>3.3</c:v>
                </c:pt>
                <c:pt idx="3">
                  <c:v>1.6</c:v>
                </c:pt>
                <c:pt idx="4">
                  <c:v>1.6</c:v>
                </c:pt>
                <c:pt idx="5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6-4524-9A3B-DFAB986962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Selling price vs MMR (USD)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Selling Price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3000</c:v>
                </c:pt>
                <c:pt idx="1">
                  <c:v>5000</c:v>
                </c:pt>
                <c:pt idx="2">
                  <c:v>7000</c:v>
                </c:pt>
                <c:pt idx="3">
                  <c:v>8500</c:v>
                </c:pt>
                <c:pt idx="4">
                  <c:v>10000</c:v>
                </c:pt>
                <c:pt idx="5">
                  <c:v>12000</c:v>
                </c:pt>
                <c:pt idx="6">
                  <c:v>14000</c:v>
                </c:pt>
                <c:pt idx="7">
                  <c:v>15500</c:v>
                </c:pt>
                <c:pt idx="8">
                  <c:v>17000</c:v>
                </c:pt>
                <c:pt idx="9">
                  <c:v>19000</c:v>
                </c:pt>
                <c:pt idx="10">
                  <c:v>21000</c:v>
                </c:pt>
                <c:pt idx="11">
                  <c:v>23500</c:v>
                </c:pt>
                <c:pt idx="12">
                  <c:v>25000</c:v>
                </c:pt>
                <c:pt idx="13">
                  <c:v>28000</c:v>
                </c:pt>
                <c:pt idx="14">
                  <c:v>31000</c:v>
                </c:pt>
                <c:pt idx="15">
                  <c:v>34000</c:v>
                </c:pt>
                <c:pt idx="16">
                  <c:v>38000</c:v>
                </c:pt>
                <c:pt idx="17">
                  <c:v>42000</c:v>
                </c:pt>
                <c:pt idx="18">
                  <c:v>46000</c:v>
                </c:pt>
                <c:pt idx="19">
                  <c:v>52000</c:v>
                </c:pt>
                <c:pt idx="20">
                  <c:v>9000</c:v>
                </c:pt>
                <c:pt idx="21">
                  <c:v>11000</c:v>
                </c:pt>
                <c:pt idx="22">
                  <c:v>14000</c:v>
                </c:pt>
                <c:pt idx="23">
                  <c:v>8000</c:v>
                </c:pt>
                <c:pt idx="24">
                  <c:v>20000</c:v>
                </c:pt>
                <c:pt idx="25">
                  <c:v>25000</c:v>
                </c:pt>
                <c:pt idx="26">
                  <c:v>30000</c:v>
                </c:pt>
                <c:pt idx="27">
                  <c:v>18000</c:v>
                </c:pt>
                <c:pt idx="28">
                  <c:v>6000</c:v>
                </c:pt>
                <c:pt idx="29">
                  <c:v>40000</c:v>
                </c:pt>
              </c:numCache>
            </c:numRef>
          </c:xVal>
          <c:yVal>
            <c:numRef>
              <c:f>Sheet1!$B$2:$B$31</c:f>
              <c:numCache>
                <c:formatCode>General</c:formatCode>
                <c:ptCount val="30"/>
                <c:pt idx="0">
                  <c:v>3500</c:v>
                </c:pt>
                <c:pt idx="1">
                  <c:v>5200</c:v>
                </c:pt>
                <c:pt idx="2">
                  <c:v>7100</c:v>
                </c:pt>
                <c:pt idx="3">
                  <c:v>8000</c:v>
                </c:pt>
                <c:pt idx="4">
                  <c:v>9800</c:v>
                </c:pt>
                <c:pt idx="5">
                  <c:v>11500</c:v>
                </c:pt>
                <c:pt idx="6">
                  <c:v>13800</c:v>
                </c:pt>
                <c:pt idx="7">
                  <c:v>14500</c:v>
                </c:pt>
                <c:pt idx="8">
                  <c:v>16800</c:v>
                </c:pt>
                <c:pt idx="9">
                  <c:v>18200</c:v>
                </c:pt>
                <c:pt idx="10">
                  <c:v>20500</c:v>
                </c:pt>
                <c:pt idx="11">
                  <c:v>22000</c:v>
                </c:pt>
                <c:pt idx="12">
                  <c:v>24800</c:v>
                </c:pt>
                <c:pt idx="13">
                  <c:v>26500</c:v>
                </c:pt>
                <c:pt idx="14">
                  <c:v>29500</c:v>
                </c:pt>
                <c:pt idx="15">
                  <c:v>33000</c:v>
                </c:pt>
                <c:pt idx="16">
                  <c:v>36500</c:v>
                </c:pt>
                <c:pt idx="17">
                  <c:v>39000</c:v>
                </c:pt>
                <c:pt idx="18">
                  <c:v>44500</c:v>
                </c:pt>
                <c:pt idx="19">
                  <c:v>49000</c:v>
                </c:pt>
                <c:pt idx="20">
                  <c:v>12000</c:v>
                </c:pt>
                <c:pt idx="21">
                  <c:v>14500</c:v>
                </c:pt>
                <c:pt idx="22">
                  <c:v>18000</c:v>
                </c:pt>
                <c:pt idx="23">
                  <c:v>11500</c:v>
                </c:pt>
                <c:pt idx="24">
                  <c:v>16000</c:v>
                </c:pt>
                <c:pt idx="25">
                  <c:v>20000</c:v>
                </c:pt>
                <c:pt idx="26">
                  <c:v>24500</c:v>
                </c:pt>
                <c:pt idx="27">
                  <c:v>22000</c:v>
                </c:pt>
                <c:pt idx="28">
                  <c:v>9500</c:v>
                </c:pt>
                <c:pt idx="29">
                  <c:v>32000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481-4ABB-A360-FC52FAF75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B8"/>
                    </a:solidFill>
                    <a:latin typeface="Calibri"/>
                  </a:defRPr>
                </a:pPr>
                <a:r>
                  <a:rPr lang="en-US" sz="1000" b="0" i="0" u="none" strike="noStrike">
                    <a:solidFill>
                      <a:srgbClr val="8A93B8"/>
                    </a:solidFill>
                    <a:latin typeface="Calibri"/>
                  </a:rPr>
                  <a:t>MMR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B8"/>
                    </a:solidFill>
                    <a:latin typeface="Calibri"/>
                  </a:defRPr>
                </a:pPr>
                <a:r>
                  <a:rPr lang="en-US" sz="1000" b="0" i="0" u="none" strike="noStrike">
                    <a:solidFill>
                      <a:srgbClr val="8A93B8"/>
                    </a:solidFill>
                    <a:latin typeface="Calibri"/>
                  </a:rPr>
                  <a:t>Selling price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Revenue share by state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State 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914-465B-A3F7-6B129DE0EF02}"/>
              </c:ext>
            </c:extLst>
          </c:dPt>
          <c:dPt>
            <c:idx val="1"/>
            <c:bubble3D val="0"/>
            <c:spPr>
              <a:solidFill>
                <a:srgbClr val="F2B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14-465B-A3F7-6B129DE0EF02}"/>
              </c:ext>
            </c:extLst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14-465B-A3F7-6B129DE0EF02}"/>
              </c:ext>
            </c:extLst>
          </c:dPt>
          <c:dPt>
            <c:idx val="3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14-465B-A3F7-6B129DE0EF02}"/>
              </c:ext>
            </c:extLst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914-465B-A3F7-6B129DE0EF02}"/>
              </c:ext>
            </c:extLst>
          </c:dPt>
          <c:dPt>
            <c:idx val="5"/>
            <c:bubble3D val="0"/>
            <c:spPr>
              <a:solidFill>
                <a:srgbClr val="8A9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914-465B-A3F7-6B129DE0EF02}"/>
              </c:ext>
            </c:extLst>
          </c:dPt>
          <c:cat>
            <c:strRef>
              <c:f>Sheet1!$A$2:$A$7</c:f>
              <c:strCache>
                <c:ptCount val="6"/>
                <c:pt idx="0">
                  <c:v>California</c:v>
                </c:pt>
                <c:pt idx="1">
                  <c:v>Florida</c:v>
                </c:pt>
                <c:pt idx="2">
                  <c:v>Texas</c:v>
                </c:pt>
                <c:pt idx="3">
                  <c:v>Pennsylvania</c:v>
                </c:pt>
                <c:pt idx="4">
                  <c:v>Georgia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17</c:v>
                </c:pt>
                <c:pt idx="2">
                  <c:v>14</c:v>
                </c:pt>
                <c:pt idx="3">
                  <c:v>9</c:v>
                </c:pt>
                <c:pt idx="4">
                  <c:v>8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914-465B-A3F7-6B129DE0EF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E276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306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/  Q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Sales Performance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Insights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4160520"/>
            <a:ext cx="5486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view of revenue, pricing and market opportunities across the vehicle sales portfolio.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vehicle sales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(price, MMR, state, condition, odometer)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5669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– 2015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5669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matters most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1188720"/>
          </a:xfrm>
          <a:prstGeom prst="rect">
            <a:avLst/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$8.0B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97480" cy="1188720"/>
          </a:xfrm>
          <a:prstGeom prst="rect">
            <a:avLst/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19272" y="1554480"/>
            <a:ext cx="73152" cy="1188720"/>
          </a:xfrm>
          <a:prstGeom prst="rect">
            <a:avLst/>
          </a:prstGeom>
          <a:solidFill>
            <a:srgbClr val="F2B340"/>
          </a:solidFill>
          <a:ln w="12700">
            <a:solidFill>
              <a:srgbClr val="F2B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02152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83.6%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sedans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97480" cy="1188720"/>
          </a:xfrm>
          <a:prstGeom prst="rect">
            <a:avLst/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73152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4224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years analysed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43416" y="1554480"/>
            <a:ext cx="2697480" cy="1188720"/>
          </a:xfrm>
          <a:prstGeom prst="rect">
            <a:avLst/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43416" y="1554480"/>
            <a:ext cx="73152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26296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makes tracked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0815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3108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alone drive 83.6% of revenue — a heavy single-segment dependency.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11247120" cy="0"/>
          </a:xfrm>
          <a:prstGeom prst="line">
            <a:avLst/>
          </a:prstGeom>
          <a:noFill/>
          <a:ln w="9525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6850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vs MMR gap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37307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gaps versus MMR signal an opportunity to lift margins.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11247120" cy="0"/>
          </a:xfrm>
          <a:prstGeom prst="line">
            <a:avLst/>
          </a:prstGeom>
          <a:noFill/>
          <a:ln w="9525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3068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7280" y="43251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outperformance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435254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states consistently outperform the national baseline.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73752"/>
            <a:ext cx="11247120" cy="0"/>
          </a:xfrm>
          <a:prstGeom prst="line">
            <a:avLst/>
          </a:prstGeom>
          <a:noFill/>
          <a:ln w="9525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92861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97280" y="49469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friction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89120" y="4974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and missing values are eroding reporting accuracy.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495544"/>
            <a:ext cx="11247120" cy="0"/>
          </a:xfrm>
          <a:prstGeom prst="line">
            <a:avLst/>
          </a:prstGeom>
          <a:noFill/>
          <a:ln w="9525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55504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97280" y="55686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potential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89120" y="559612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Diversifying beyond sedans and focusing on top regions unlocks growth.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Performance &amp; Insights  •  Prepared for the CEO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$8.0B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19272" y="1463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19272" y="16916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$13,611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81344" y="1463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81344" y="16916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043416" y="1463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BODY 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43416" y="16916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Sedan</a:t>
            </a:r>
            <a:endParaRPr lang="en-US" sz="2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7200" y="246888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7498080" y="2468880"/>
          <a:ext cx="4297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Performance &amp; Insights  •  Prepared for the CEO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MARKET INSIGHTS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price vs market value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8521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1463040"/>
          <a:ext cx="2926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400800" y="4434840"/>
            <a:ext cx="73152" cy="502920"/>
          </a:xfrm>
          <a:prstGeom prst="rect">
            <a:avLst/>
          </a:prstGeom>
          <a:solidFill>
            <a:srgbClr val="F2B340"/>
          </a:solidFill>
          <a:ln w="12700">
            <a:solidFill>
              <a:srgbClr val="F2B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583680" y="4416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Above-MMR vehicles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0" y="4663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headroom on cars priced &gt; MMR — protect it.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400800" y="5029200"/>
            <a:ext cx="73152" cy="502920"/>
          </a:xfrm>
          <a:prstGeom prst="rect">
            <a:avLst/>
          </a:prstGeom>
          <a:solidFill>
            <a:srgbClr val="F2B340"/>
          </a:solidFill>
          <a:ln w="12700">
            <a:solidFill>
              <a:srgbClr val="F2B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583680" y="50109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overpriced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83680" y="5257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of listings far above MMR risks slow turnover.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0" y="5623560"/>
            <a:ext cx="73152" cy="502920"/>
          </a:xfrm>
          <a:prstGeom prst="rect">
            <a:avLst/>
          </a:prstGeom>
          <a:solidFill>
            <a:srgbClr val="F2B340"/>
          </a:solidFill>
          <a:ln w="12700">
            <a:solidFill>
              <a:srgbClr val="F2B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583680" y="56052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transactions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8368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premium SUV &amp; luxury segments.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692640" y="1554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69264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· Florida · Texas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69264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692640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· Vermont · N. Dakota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Performance &amp; Insights  •  Prepared for the CEO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0AB74C-BA2B-5568-FA4C-188CCEB3A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87"/>
            <a:ext cx="11940362" cy="682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99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FORWARD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Risks, opportunities &amp;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023360"/>
          </a:xfrm>
          <a:prstGeom prst="rect">
            <a:avLst/>
          </a:prstGeom>
          <a:solidFill>
            <a:srgbClr val="2A3470"/>
          </a:solidFill>
          <a:ln w="12700">
            <a:solidFill>
              <a:srgbClr val="3A4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distorting reporting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inconsistent data fields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inconsistencies across similar vehicles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57600" cy="4023360"/>
          </a:xfrm>
          <a:prstGeom prst="rect">
            <a:avLst/>
          </a:prstGeom>
          <a:solidFill>
            <a:srgbClr val="2A3470"/>
          </a:solidFill>
          <a:ln w="12700">
            <a:solidFill>
              <a:srgbClr val="3A4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657600" cy="54864"/>
          </a:xfrm>
          <a:prstGeom prst="rect">
            <a:avLst/>
          </a:prstGeom>
          <a:solidFill>
            <a:srgbClr val="F2B340"/>
          </a:solidFill>
          <a:ln w="12700">
            <a:solidFill>
              <a:srgbClr val="F2B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high-margin categories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presence in top-performing states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pricing strategy versus MMR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57600" cy="4023360"/>
          </a:xfrm>
          <a:prstGeom prst="rect">
            <a:avLst/>
          </a:prstGeom>
          <a:solidFill>
            <a:srgbClr val="2A3470"/>
          </a:solidFill>
          <a:ln w="12700">
            <a:solidFill>
              <a:srgbClr val="3A4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6576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246888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high-performing vehicle segments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pricing controls aligned to MMR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quality — dedupe &amp; validate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growth in top regions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solidFill>
            <a:srgbClr val="F2B340"/>
          </a:solidFill>
          <a:ln w="12700">
            <a:solidFill>
              <a:srgbClr val="F2B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growth potential — unlocked by pricing discipline and regional focus.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378</Words>
  <Application>Microsoft Office PowerPoint</Application>
  <PresentationFormat>Widescreen</PresentationFormat>
  <Paragraphs>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Performance &amp; Insights</dc:title>
  <dc:subject>PptxGenJS Presentation</dc:subject>
  <dc:creator>PptxGenJS</dc:creator>
  <cp:lastModifiedBy>Last Musekwa</cp:lastModifiedBy>
  <cp:revision>2</cp:revision>
  <dcterms:created xsi:type="dcterms:W3CDTF">2026-04-27T19:25:47Z</dcterms:created>
  <dcterms:modified xsi:type="dcterms:W3CDTF">2026-04-28T18:34:04Z</dcterms:modified>
</cp:coreProperties>
</file>